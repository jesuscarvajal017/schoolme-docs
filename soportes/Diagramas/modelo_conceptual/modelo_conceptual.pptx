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59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2882562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9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315562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8700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063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604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056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41379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17622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384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217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EA1767B-48D6-47AF-84EF-3B1530196939}" type="datetimeFigureOut">
              <a:rPr lang="es-CO" smtClean="0"/>
              <a:t>11/03/2025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7184D02-8325-4608-9BCD-4083067433AA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8516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98DFCB-D1BC-CDA1-FE7D-F85BF813D8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 dirty="0"/>
              <a:t>Modelo conceptual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357A4B-2714-CF6F-39AF-1F548DBA96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CO" dirty="0"/>
              <a:t>Estructura que se da a los datos con ciertas restricciones de integridad apegándose al mundo real. Utilizando los elementos de análisis</a:t>
            </a:r>
          </a:p>
        </p:txBody>
      </p:sp>
    </p:spTree>
    <p:extLst>
      <p:ext uri="{BB962C8B-B14F-4D97-AF65-F5344CB8AC3E}">
        <p14:creationId xmlns:p14="http://schemas.microsoft.com/office/powerpoint/2010/main" val="3152923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8C7E7ADE-1547-771F-D61F-710954F11ADD}"/>
              </a:ext>
            </a:extLst>
          </p:cNvPr>
          <p:cNvSpPr/>
          <p:nvPr/>
        </p:nvSpPr>
        <p:spPr>
          <a:xfrm>
            <a:off x="3398198" y="2933299"/>
            <a:ext cx="2367815" cy="99140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6D1A6DC2-1BB2-0D78-3EAC-7CDDA94EF3BB}"/>
              </a:ext>
            </a:extLst>
          </p:cNvPr>
          <p:cNvCxnSpPr/>
          <p:nvPr/>
        </p:nvCxnSpPr>
        <p:spPr>
          <a:xfrm>
            <a:off x="3391942" y="4964658"/>
            <a:ext cx="221332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221CD69B-E7F5-CD94-8271-A25DB188FFAA}"/>
              </a:ext>
            </a:extLst>
          </p:cNvPr>
          <p:cNvCxnSpPr>
            <a:cxnSpLocks/>
          </p:cNvCxnSpPr>
          <p:nvPr/>
        </p:nvCxnSpPr>
        <p:spPr>
          <a:xfrm flipH="1">
            <a:off x="3259595" y="5411966"/>
            <a:ext cx="24780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F3655C6-7AD5-4440-3D99-D5259A1B3332}"/>
              </a:ext>
            </a:extLst>
          </p:cNvPr>
          <p:cNvSpPr/>
          <p:nvPr/>
        </p:nvSpPr>
        <p:spPr>
          <a:xfrm>
            <a:off x="3506483" y="1297646"/>
            <a:ext cx="2259530" cy="6309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F5B891C-38D7-2DFD-168D-915E30EAB9B6}"/>
              </a:ext>
            </a:extLst>
          </p:cNvPr>
          <p:cNvSpPr txBox="1"/>
          <p:nvPr/>
        </p:nvSpPr>
        <p:spPr>
          <a:xfrm>
            <a:off x="7405497" y="1297646"/>
            <a:ext cx="27645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ENTIDAD</a:t>
            </a:r>
          </a:p>
          <a:p>
            <a:endParaRPr lang="es-CO" dirty="0">
              <a:latin typeface="Amasis MT Pro Black" panose="02040A04050005020304" pitchFamily="18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70503A6-1958-8355-0994-7C6955F133A8}"/>
              </a:ext>
            </a:extLst>
          </p:cNvPr>
          <p:cNvSpPr txBox="1"/>
          <p:nvPr/>
        </p:nvSpPr>
        <p:spPr>
          <a:xfrm>
            <a:off x="7405497" y="3125015"/>
            <a:ext cx="20413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ATRIBUTO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8731094-9498-CFB5-6E15-41EDCCF043EB}"/>
              </a:ext>
            </a:extLst>
          </p:cNvPr>
          <p:cNvSpPr txBox="1"/>
          <p:nvPr/>
        </p:nvSpPr>
        <p:spPr>
          <a:xfrm>
            <a:off x="7333488" y="4964658"/>
            <a:ext cx="2642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ASIGNACIÓN</a:t>
            </a:r>
            <a:r>
              <a:rPr lang="es-CO" sz="1800" dirty="0">
                <a:latin typeface="Amasis MT Pro Black" panose="02040A040500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7798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BDB27EA-5CCA-A991-B3D6-22E5AE9F81B5}"/>
              </a:ext>
            </a:extLst>
          </p:cNvPr>
          <p:cNvSpPr txBox="1"/>
          <p:nvPr/>
        </p:nvSpPr>
        <p:spPr>
          <a:xfrm>
            <a:off x="7432924" y="1377798"/>
            <a:ext cx="2442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CONCRETOS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C45A26-264B-C439-3381-CAD71D3D6D4B}"/>
              </a:ext>
            </a:extLst>
          </p:cNvPr>
          <p:cNvSpPr txBox="1"/>
          <p:nvPr/>
        </p:nvSpPr>
        <p:spPr>
          <a:xfrm>
            <a:off x="7318623" y="3570840"/>
            <a:ext cx="26711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ABSTRACTOS</a:t>
            </a:r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CDEF6BD4-8586-A08C-F701-0DCDF97BA5E2}"/>
              </a:ext>
            </a:extLst>
          </p:cNvPr>
          <p:cNvSpPr/>
          <p:nvPr/>
        </p:nvSpPr>
        <p:spPr>
          <a:xfrm>
            <a:off x="5340096" y="868680"/>
            <a:ext cx="1984248" cy="5111496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B9AEFC-D156-695C-8E54-0749DADC3B8F}"/>
              </a:ext>
            </a:extLst>
          </p:cNvPr>
          <p:cNvSpPr txBox="1"/>
          <p:nvPr/>
        </p:nvSpPr>
        <p:spPr>
          <a:xfrm>
            <a:off x="1969011" y="3013485"/>
            <a:ext cx="2442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ENTIDAD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00BAD2F-6150-80D0-AE43-9E5D118C0427}"/>
              </a:ext>
            </a:extLst>
          </p:cNvPr>
          <p:cNvSpPr txBox="1"/>
          <p:nvPr/>
        </p:nvSpPr>
        <p:spPr>
          <a:xfrm>
            <a:off x="1969011" y="3475150"/>
            <a:ext cx="3435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le considera a un objeto o cosa que conforma una organización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64491D-42E0-895A-3246-874C738DD69B}"/>
              </a:ext>
            </a:extLst>
          </p:cNvPr>
          <p:cNvSpPr txBox="1"/>
          <p:nvPr/>
        </p:nvSpPr>
        <p:spPr>
          <a:xfrm>
            <a:off x="7432924" y="1925366"/>
            <a:ext cx="34350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Objetos que existen en la vida real como: </a:t>
            </a:r>
            <a:br>
              <a:rPr lang="es-CO" dirty="0"/>
            </a:br>
            <a:br>
              <a:rPr lang="es-CO" dirty="0"/>
            </a:br>
            <a:r>
              <a:rPr lang="es-CO" dirty="0"/>
              <a:t>	Personas, Animales, etc.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9BD854D-8914-6AD6-4B4F-76CDFC53BABE}"/>
              </a:ext>
            </a:extLst>
          </p:cNvPr>
          <p:cNvSpPr txBox="1"/>
          <p:nvPr/>
        </p:nvSpPr>
        <p:spPr>
          <a:xfrm>
            <a:off x="7318623" y="4197955"/>
            <a:ext cx="343509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Acciones derivadas de los objetos como:</a:t>
            </a:r>
            <a:br>
              <a:rPr lang="es-CO" dirty="0"/>
            </a:br>
            <a:br>
              <a:rPr lang="es-CO" dirty="0"/>
            </a:br>
            <a:r>
              <a:rPr lang="es-CO" dirty="0"/>
              <a:t>Especialidad, puesto, materia etc.</a:t>
            </a:r>
          </a:p>
        </p:txBody>
      </p:sp>
    </p:spTree>
    <p:extLst>
      <p:ext uri="{BB962C8B-B14F-4D97-AF65-F5344CB8AC3E}">
        <p14:creationId xmlns:p14="http://schemas.microsoft.com/office/powerpoint/2010/main" val="2615364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87B6E-1F41-489D-903F-379E39DC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4A06B95-4F90-C904-2395-26294F3D8A3A}"/>
              </a:ext>
            </a:extLst>
          </p:cNvPr>
          <p:cNvSpPr txBox="1"/>
          <p:nvPr/>
        </p:nvSpPr>
        <p:spPr>
          <a:xfrm>
            <a:off x="7308342" y="970666"/>
            <a:ext cx="2899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dirty="0">
                <a:latin typeface="Amasis MT Pro Black" panose="02040A04050005020304" pitchFamily="18" charset="0"/>
              </a:rPr>
              <a:t>IDENTIFIACIÓN</a:t>
            </a:r>
            <a:r>
              <a:rPr lang="es-CO" sz="2400" dirty="0">
                <a:latin typeface="Amasis MT Pro Black" panose="02040A04050005020304" pitchFamily="18" charset="0"/>
              </a:rPr>
              <a:t> </a:t>
            </a:r>
          </a:p>
        </p:txBody>
      </p:sp>
      <p:sp>
        <p:nvSpPr>
          <p:cNvPr id="6" name="Abrir llave 5">
            <a:extLst>
              <a:ext uri="{FF2B5EF4-FFF2-40B4-BE49-F238E27FC236}">
                <a16:creationId xmlns:a16="http://schemas.microsoft.com/office/drawing/2014/main" id="{BB3C6D40-6CE2-F23B-8A64-1523D5851288}"/>
              </a:ext>
            </a:extLst>
          </p:cNvPr>
          <p:cNvSpPr/>
          <p:nvPr/>
        </p:nvSpPr>
        <p:spPr>
          <a:xfrm>
            <a:off x="5340096" y="411480"/>
            <a:ext cx="1984248" cy="6053328"/>
          </a:xfrm>
          <a:prstGeom prst="leftBrac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DA0D340-637C-AA5B-9AD7-ABA65E76CC2B}"/>
              </a:ext>
            </a:extLst>
          </p:cNvPr>
          <p:cNvSpPr txBox="1"/>
          <p:nvPr/>
        </p:nvSpPr>
        <p:spPr>
          <a:xfrm>
            <a:off x="2114365" y="2812960"/>
            <a:ext cx="2442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Atributo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0C45CFC-40D9-5A7D-8B15-5586633589D3}"/>
              </a:ext>
            </a:extLst>
          </p:cNvPr>
          <p:cNvSpPr txBox="1"/>
          <p:nvPr/>
        </p:nvSpPr>
        <p:spPr>
          <a:xfrm>
            <a:off x="2114365" y="3274625"/>
            <a:ext cx="3435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Se le considera a las características propias que pose una entidad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E7248A-D8C8-C561-23AE-834574EDC3FA}"/>
              </a:ext>
            </a:extLst>
          </p:cNvPr>
          <p:cNvSpPr txBox="1"/>
          <p:nvPr/>
        </p:nvSpPr>
        <p:spPr>
          <a:xfrm>
            <a:off x="7324344" y="1516042"/>
            <a:ext cx="343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Atributos que con únicos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B63546-D667-FFBA-F9F3-DFB22F16ED59}"/>
              </a:ext>
            </a:extLst>
          </p:cNvPr>
          <p:cNvSpPr txBox="1"/>
          <p:nvPr/>
        </p:nvSpPr>
        <p:spPr>
          <a:xfrm>
            <a:off x="7292340" y="4648852"/>
            <a:ext cx="2899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DERIVADOS 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343B40-6930-F0F1-017E-DDC75E971146}"/>
              </a:ext>
            </a:extLst>
          </p:cNvPr>
          <p:cNvSpPr txBox="1"/>
          <p:nvPr/>
        </p:nvSpPr>
        <p:spPr>
          <a:xfrm>
            <a:off x="7324344" y="2643683"/>
            <a:ext cx="34350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Solo pose un valor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7D295E1-3304-1AF7-F9E0-5B95672FB076}"/>
              </a:ext>
            </a:extLst>
          </p:cNvPr>
          <p:cNvSpPr txBox="1"/>
          <p:nvPr/>
        </p:nvSpPr>
        <p:spPr>
          <a:xfrm>
            <a:off x="7292340" y="3753269"/>
            <a:ext cx="415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Atributos que puede estar compuestos por otros valores que pueden ser simples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BE71F36-1E1A-1D41-692E-4659DF7C056C}"/>
              </a:ext>
            </a:extLst>
          </p:cNvPr>
          <p:cNvSpPr txBox="1"/>
          <p:nvPr/>
        </p:nvSpPr>
        <p:spPr>
          <a:xfrm>
            <a:off x="7324344" y="5253902"/>
            <a:ext cx="3954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/>
              <a:t>Obtiene su valor de acuerdo a un campo calculado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01D2D19-906A-49E9-5A1E-E7E560560B77}"/>
              </a:ext>
            </a:extLst>
          </p:cNvPr>
          <p:cNvSpPr txBox="1"/>
          <p:nvPr/>
        </p:nvSpPr>
        <p:spPr>
          <a:xfrm>
            <a:off x="7292340" y="3355254"/>
            <a:ext cx="3435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MULTIVALORADOS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9BA309C-9F14-7996-37D8-E50E49F0BBEA}"/>
              </a:ext>
            </a:extLst>
          </p:cNvPr>
          <p:cNvSpPr txBox="1"/>
          <p:nvPr/>
        </p:nvSpPr>
        <p:spPr>
          <a:xfrm>
            <a:off x="7324344" y="2157802"/>
            <a:ext cx="28997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latin typeface="Amasis MT Pro Black" panose="02040A04050005020304" pitchFamily="18" charset="0"/>
              </a:rPr>
              <a:t>SIMPLES </a:t>
            </a:r>
          </a:p>
        </p:txBody>
      </p:sp>
    </p:spTree>
    <p:extLst>
      <p:ext uri="{BB962C8B-B14F-4D97-AF65-F5344CB8AC3E}">
        <p14:creationId xmlns:p14="http://schemas.microsoft.com/office/powerpoint/2010/main" val="2393859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D6F8F94F-2222-C6FC-80DF-841704BD9217}"/>
              </a:ext>
            </a:extLst>
          </p:cNvPr>
          <p:cNvSpPr/>
          <p:nvPr/>
        </p:nvSpPr>
        <p:spPr>
          <a:xfrm>
            <a:off x="5462016" y="2756154"/>
            <a:ext cx="2075688" cy="63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persona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6C0E910B-1D25-7185-2950-86906B507A1B}"/>
              </a:ext>
            </a:extLst>
          </p:cNvPr>
          <p:cNvSpPr/>
          <p:nvPr/>
        </p:nvSpPr>
        <p:spPr>
          <a:xfrm>
            <a:off x="9153144" y="4462272"/>
            <a:ext cx="1712214" cy="73152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Prima vacacional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4950FBB-6905-A822-CE09-C0116B7A9832}"/>
              </a:ext>
            </a:extLst>
          </p:cNvPr>
          <p:cNvSpPr/>
          <p:nvPr/>
        </p:nvSpPr>
        <p:spPr>
          <a:xfrm>
            <a:off x="5806440" y="4873752"/>
            <a:ext cx="1344168" cy="731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turno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736C6C6-3D2D-FBE8-8746-C5F644E893D4}"/>
              </a:ext>
            </a:extLst>
          </p:cNvPr>
          <p:cNvSpPr/>
          <p:nvPr/>
        </p:nvSpPr>
        <p:spPr>
          <a:xfrm>
            <a:off x="7639812" y="4828032"/>
            <a:ext cx="1344168" cy="731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email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6EF7A26-7D0A-F40D-5D55-E9C90586FA26}"/>
              </a:ext>
            </a:extLst>
          </p:cNvPr>
          <p:cNvSpPr/>
          <p:nvPr/>
        </p:nvSpPr>
        <p:spPr>
          <a:xfrm>
            <a:off x="8894064" y="2802636"/>
            <a:ext cx="1603248" cy="731520"/>
          </a:xfrm>
          <a:prstGeom prst="ellipse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telefono</a:t>
            </a:r>
            <a:endParaRPr lang="es-CO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748054E-1C32-35A0-2858-B322C246113E}"/>
              </a:ext>
            </a:extLst>
          </p:cNvPr>
          <p:cNvSpPr/>
          <p:nvPr/>
        </p:nvSpPr>
        <p:spPr>
          <a:xfrm>
            <a:off x="5134356" y="1202436"/>
            <a:ext cx="1344168" cy="731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/>
              <a:t>Nombre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8FE6D94-A95D-B0F2-497C-48FEDB7223E9}"/>
              </a:ext>
            </a:extLst>
          </p:cNvPr>
          <p:cNvSpPr/>
          <p:nvPr/>
        </p:nvSpPr>
        <p:spPr>
          <a:xfrm>
            <a:off x="8816340" y="264033"/>
            <a:ext cx="931164" cy="43281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calle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07E6BF74-B480-C5BE-624D-3E6DCAD1222C}"/>
              </a:ext>
            </a:extLst>
          </p:cNvPr>
          <p:cNvSpPr/>
          <p:nvPr/>
        </p:nvSpPr>
        <p:spPr>
          <a:xfrm>
            <a:off x="9022842" y="1958340"/>
            <a:ext cx="1712214" cy="43281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localidad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121CCB8-1146-C86B-DD40-55B35B0AC231}"/>
              </a:ext>
            </a:extLst>
          </p:cNvPr>
          <p:cNvSpPr/>
          <p:nvPr/>
        </p:nvSpPr>
        <p:spPr>
          <a:xfrm>
            <a:off x="8983980" y="1399032"/>
            <a:ext cx="1254252" cy="43281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colonia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82B9D1E1-B78A-441F-5A7F-9054CC3D6A8F}"/>
              </a:ext>
            </a:extLst>
          </p:cNvPr>
          <p:cNvSpPr/>
          <p:nvPr/>
        </p:nvSpPr>
        <p:spPr>
          <a:xfrm>
            <a:off x="8894064" y="823341"/>
            <a:ext cx="1114798" cy="43281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barrio</a:t>
            </a: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9DA2666F-CC52-71DD-B52A-D04FBA78D0CA}"/>
              </a:ext>
            </a:extLst>
          </p:cNvPr>
          <p:cNvSpPr/>
          <p:nvPr/>
        </p:nvSpPr>
        <p:spPr>
          <a:xfrm>
            <a:off x="6844283" y="1127760"/>
            <a:ext cx="1397127" cy="73152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600" dirty="0" err="1"/>
              <a:t>Direccion</a:t>
            </a:r>
            <a:endParaRPr lang="es-CO" sz="1600" dirty="0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9639336-3552-02E1-602C-094D6F0404EF}"/>
              </a:ext>
            </a:extLst>
          </p:cNvPr>
          <p:cNvSpPr/>
          <p:nvPr/>
        </p:nvSpPr>
        <p:spPr>
          <a:xfrm>
            <a:off x="2800977" y="2052760"/>
            <a:ext cx="1853128" cy="731520"/>
          </a:xfrm>
          <a:prstGeom prst="ellipse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 err="1"/>
              <a:t>N°</a:t>
            </a:r>
            <a:r>
              <a:rPr lang="es-CO" dirty="0"/>
              <a:t> empleado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530DE8AC-EA4A-6739-F8A2-1066917F267C}"/>
              </a:ext>
            </a:extLst>
          </p:cNvPr>
          <p:cNvSpPr/>
          <p:nvPr/>
        </p:nvSpPr>
        <p:spPr>
          <a:xfrm>
            <a:off x="2892552" y="3209544"/>
            <a:ext cx="1344168" cy="731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genero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DC0AFC88-DAE1-F0C2-B6DF-03BD6BFBAD48}"/>
              </a:ext>
            </a:extLst>
          </p:cNvPr>
          <p:cNvSpPr/>
          <p:nvPr/>
        </p:nvSpPr>
        <p:spPr>
          <a:xfrm>
            <a:off x="2822313" y="4352544"/>
            <a:ext cx="1990479" cy="7315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especialidad</a:t>
            </a:r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8E64EFA-8EBD-A3CF-5E36-CD025E7524BD}"/>
              </a:ext>
            </a:extLst>
          </p:cNvPr>
          <p:cNvCxnSpPr>
            <a:cxnSpLocks/>
            <a:stCxn id="15" idx="7"/>
            <a:endCxn id="10" idx="2"/>
          </p:cNvCxnSpPr>
          <p:nvPr/>
        </p:nvCxnSpPr>
        <p:spPr>
          <a:xfrm flipV="1">
            <a:off x="8036805" y="480441"/>
            <a:ext cx="779535" cy="754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BDF22265-F9E1-C509-D2C8-AD29223DECC6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8144003" y="1039749"/>
            <a:ext cx="750061" cy="347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82E3419-7604-19ED-4107-BD2AB03A9814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8144003" y="1387289"/>
            <a:ext cx="839977" cy="228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7279C97-606C-A2BE-2ABB-EE6B83F80E68}"/>
              </a:ext>
            </a:extLst>
          </p:cNvPr>
          <p:cNvCxnSpPr>
            <a:cxnSpLocks/>
            <a:endCxn id="11" idx="2"/>
          </p:cNvCxnSpPr>
          <p:nvPr/>
        </p:nvCxnSpPr>
        <p:spPr>
          <a:xfrm>
            <a:off x="8144003" y="1387289"/>
            <a:ext cx="878839" cy="787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2571594-98C4-D380-1A39-8E162DDC1E15}"/>
              </a:ext>
            </a:extLst>
          </p:cNvPr>
          <p:cNvCxnSpPr>
            <a:cxnSpLocks/>
            <a:stCxn id="4" idx="3"/>
            <a:endCxn id="8" idx="2"/>
          </p:cNvCxnSpPr>
          <p:nvPr/>
        </p:nvCxnSpPr>
        <p:spPr>
          <a:xfrm>
            <a:off x="7537704" y="3071622"/>
            <a:ext cx="1356360" cy="96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E98DA966-4FDB-3A23-8829-01BD45D86107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499860" y="3387090"/>
            <a:ext cx="1812036" cy="1440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0CCD7018-F275-FBDF-B72E-3BEC55EFE12C}"/>
              </a:ext>
            </a:extLst>
          </p:cNvPr>
          <p:cNvCxnSpPr>
            <a:cxnSpLocks/>
            <a:stCxn id="4" idx="2"/>
            <a:endCxn id="5" idx="1"/>
          </p:cNvCxnSpPr>
          <p:nvPr/>
        </p:nvCxnSpPr>
        <p:spPr>
          <a:xfrm>
            <a:off x="6499860" y="3387090"/>
            <a:ext cx="2904032" cy="1182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>
            <a:extLst>
              <a:ext uri="{FF2B5EF4-FFF2-40B4-BE49-F238E27FC236}">
                <a16:creationId xmlns:a16="http://schemas.microsoft.com/office/drawing/2014/main" id="{26BFCC1D-9FCE-771C-DA9F-1793DAD2D16C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6478524" y="3387090"/>
            <a:ext cx="21336" cy="1486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>
            <a:extLst>
              <a:ext uri="{FF2B5EF4-FFF2-40B4-BE49-F238E27FC236}">
                <a16:creationId xmlns:a16="http://schemas.microsoft.com/office/drawing/2014/main" id="{8D1EEC1E-11BE-230F-933A-A894B008E7B2}"/>
              </a:ext>
            </a:extLst>
          </p:cNvPr>
          <p:cNvCxnSpPr>
            <a:cxnSpLocks/>
            <a:stCxn id="4" idx="0"/>
            <a:endCxn id="15" idx="4"/>
          </p:cNvCxnSpPr>
          <p:nvPr/>
        </p:nvCxnSpPr>
        <p:spPr>
          <a:xfrm flipV="1">
            <a:off x="6499860" y="1859280"/>
            <a:ext cx="1042987" cy="8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de flecha 45">
            <a:extLst>
              <a:ext uri="{FF2B5EF4-FFF2-40B4-BE49-F238E27FC236}">
                <a16:creationId xmlns:a16="http://schemas.microsoft.com/office/drawing/2014/main" id="{75F78621-6982-E6CA-6232-3CA68FBA2034}"/>
              </a:ext>
            </a:extLst>
          </p:cNvPr>
          <p:cNvCxnSpPr>
            <a:cxnSpLocks/>
            <a:stCxn id="4" idx="0"/>
            <a:endCxn id="9" idx="4"/>
          </p:cNvCxnSpPr>
          <p:nvPr/>
        </p:nvCxnSpPr>
        <p:spPr>
          <a:xfrm flipH="1" flipV="1">
            <a:off x="5806440" y="1933956"/>
            <a:ext cx="693420" cy="8221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cto de flecha 52">
            <a:extLst>
              <a:ext uri="{FF2B5EF4-FFF2-40B4-BE49-F238E27FC236}">
                <a16:creationId xmlns:a16="http://schemas.microsoft.com/office/drawing/2014/main" id="{679F0E86-791B-7B72-A5E8-39700745272F}"/>
              </a:ext>
            </a:extLst>
          </p:cNvPr>
          <p:cNvCxnSpPr>
            <a:cxnSpLocks/>
            <a:stCxn id="4" idx="1"/>
            <a:endCxn id="16" idx="5"/>
          </p:cNvCxnSpPr>
          <p:nvPr/>
        </p:nvCxnSpPr>
        <p:spPr>
          <a:xfrm flipH="1" flipV="1">
            <a:off x="4382721" y="2677151"/>
            <a:ext cx="1079295" cy="394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de flecha 55">
            <a:extLst>
              <a:ext uri="{FF2B5EF4-FFF2-40B4-BE49-F238E27FC236}">
                <a16:creationId xmlns:a16="http://schemas.microsoft.com/office/drawing/2014/main" id="{1FBC5398-A4CE-A4F3-5B4B-B8B5424CA1F1}"/>
              </a:ext>
            </a:extLst>
          </p:cNvPr>
          <p:cNvCxnSpPr>
            <a:cxnSpLocks/>
            <a:endCxn id="17" idx="6"/>
          </p:cNvCxnSpPr>
          <p:nvPr/>
        </p:nvCxnSpPr>
        <p:spPr>
          <a:xfrm flipH="1">
            <a:off x="4236720" y="3302889"/>
            <a:ext cx="1293114" cy="272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cto de flecha 58">
            <a:extLst>
              <a:ext uri="{FF2B5EF4-FFF2-40B4-BE49-F238E27FC236}">
                <a16:creationId xmlns:a16="http://schemas.microsoft.com/office/drawing/2014/main" id="{A7662359-46A5-05D1-82FD-E83D0783D08A}"/>
              </a:ext>
            </a:extLst>
          </p:cNvPr>
          <p:cNvCxnSpPr>
            <a:cxnSpLocks/>
            <a:endCxn id="18" idx="7"/>
          </p:cNvCxnSpPr>
          <p:nvPr/>
        </p:nvCxnSpPr>
        <p:spPr>
          <a:xfrm flipH="1">
            <a:off x="4521293" y="3224022"/>
            <a:ext cx="1093123" cy="123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Abrir llave 70">
            <a:extLst>
              <a:ext uri="{FF2B5EF4-FFF2-40B4-BE49-F238E27FC236}">
                <a16:creationId xmlns:a16="http://schemas.microsoft.com/office/drawing/2014/main" id="{A3366B8A-538B-CE89-59BB-100AE6386809}"/>
              </a:ext>
            </a:extLst>
          </p:cNvPr>
          <p:cNvSpPr/>
          <p:nvPr/>
        </p:nvSpPr>
        <p:spPr>
          <a:xfrm rot="5400000">
            <a:off x="6345007" y="401512"/>
            <a:ext cx="310443" cy="1057953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A9D9F7F-DAE8-6917-0B11-7732D583380A}"/>
              </a:ext>
            </a:extLst>
          </p:cNvPr>
          <p:cNvSpPr txBox="1"/>
          <p:nvPr/>
        </p:nvSpPr>
        <p:spPr>
          <a:xfrm>
            <a:off x="5942129" y="339783"/>
            <a:ext cx="11640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Compuesto</a:t>
            </a:r>
          </a:p>
        </p:txBody>
      </p:sp>
      <p:sp>
        <p:nvSpPr>
          <p:cNvPr id="74" name="Abrir llave 73">
            <a:extLst>
              <a:ext uri="{FF2B5EF4-FFF2-40B4-BE49-F238E27FC236}">
                <a16:creationId xmlns:a16="http://schemas.microsoft.com/office/drawing/2014/main" id="{9FF8B602-DD7C-D651-FD40-1D38CAE75C30}"/>
              </a:ext>
            </a:extLst>
          </p:cNvPr>
          <p:cNvSpPr/>
          <p:nvPr/>
        </p:nvSpPr>
        <p:spPr>
          <a:xfrm rot="10800000">
            <a:off x="10548310" y="2680567"/>
            <a:ext cx="310443" cy="1057953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81B63F81-FD01-600F-344A-674DF292543B}"/>
              </a:ext>
            </a:extLst>
          </p:cNvPr>
          <p:cNvSpPr txBox="1"/>
          <p:nvPr/>
        </p:nvSpPr>
        <p:spPr>
          <a:xfrm>
            <a:off x="10853060" y="3040266"/>
            <a:ext cx="7535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simple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F7C09F1B-5669-A016-E62C-FCA7A793BDD3}"/>
              </a:ext>
            </a:extLst>
          </p:cNvPr>
          <p:cNvSpPr txBox="1"/>
          <p:nvPr/>
        </p:nvSpPr>
        <p:spPr>
          <a:xfrm>
            <a:off x="1309700" y="2247935"/>
            <a:ext cx="1003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Identidad</a:t>
            </a:r>
          </a:p>
        </p:txBody>
      </p:sp>
      <p:sp>
        <p:nvSpPr>
          <p:cNvPr id="77" name="Abrir llave 76">
            <a:extLst>
              <a:ext uri="{FF2B5EF4-FFF2-40B4-BE49-F238E27FC236}">
                <a16:creationId xmlns:a16="http://schemas.microsoft.com/office/drawing/2014/main" id="{D34EF57E-861F-A518-0653-39BC4DDE6F6B}"/>
              </a:ext>
            </a:extLst>
          </p:cNvPr>
          <p:cNvSpPr/>
          <p:nvPr/>
        </p:nvSpPr>
        <p:spPr>
          <a:xfrm rot="10800000">
            <a:off x="10735056" y="4344775"/>
            <a:ext cx="386131" cy="1057953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9736E5EE-F692-4E4A-D942-B898C9BD7985}"/>
              </a:ext>
            </a:extLst>
          </p:cNvPr>
          <p:cNvSpPr txBox="1"/>
          <p:nvPr/>
        </p:nvSpPr>
        <p:spPr>
          <a:xfrm>
            <a:off x="11162936" y="4679129"/>
            <a:ext cx="1029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derivados</a:t>
            </a:r>
          </a:p>
        </p:txBody>
      </p:sp>
      <p:sp>
        <p:nvSpPr>
          <p:cNvPr id="83" name="Abrir llave 82">
            <a:extLst>
              <a:ext uri="{FF2B5EF4-FFF2-40B4-BE49-F238E27FC236}">
                <a16:creationId xmlns:a16="http://schemas.microsoft.com/office/drawing/2014/main" id="{0D208B05-E147-BB49-BD9D-53E6C0220563}"/>
              </a:ext>
            </a:extLst>
          </p:cNvPr>
          <p:cNvSpPr/>
          <p:nvPr/>
        </p:nvSpPr>
        <p:spPr>
          <a:xfrm>
            <a:off x="2341159" y="1888235"/>
            <a:ext cx="310443" cy="1057953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4" name="Abrir llave 83">
            <a:extLst>
              <a:ext uri="{FF2B5EF4-FFF2-40B4-BE49-F238E27FC236}">
                <a16:creationId xmlns:a16="http://schemas.microsoft.com/office/drawing/2014/main" id="{ABA302C0-9037-CE92-91E2-319CF0EB8C31}"/>
              </a:ext>
            </a:extLst>
          </p:cNvPr>
          <p:cNvSpPr/>
          <p:nvPr/>
        </p:nvSpPr>
        <p:spPr>
          <a:xfrm>
            <a:off x="2490534" y="3312870"/>
            <a:ext cx="310443" cy="1057953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B57E6418-AED6-D6AD-50AB-1FF32640D4CC}"/>
              </a:ext>
            </a:extLst>
          </p:cNvPr>
          <p:cNvSpPr txBox="1"/>
          <p:nvPr/>
        </p:nvSpPr>
        <p:spPr>
          <a:xfrm>
            <a:off x="1139699" y="3639691"/>
            <a:ext cx="1301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multivaluado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60B23B7-AB3A-F68D-E7E4-ED52075ACAE1}"/>
              </a:ext>
            </a:extLst>
          </p:cNvPr>
          <p:cNvSpPr txBox="1"/>
          <p:nvPr/>
        </p:nvSpPr>
        <p:spPr>
          <a:xfrm>
            <a:off x="3255751" y="4006108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600" dirty="0"/>
              <a:t>M, F</a:t>
            </a:r>
          </a:p>
        </p:txBody>
      </p:sp>
    </p:spTree>
    <p:extLst>
      <p:ext uri="{BB962C8B-B14F-4D97-AF65-F5344CB8AC3E}">
        <p14:creationId xmlns:p14="http://schemas.microsoft.com/office/powerpoint/2010/main" val="1011801655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D82C79E9C45A4F8892A5168669910F" ma:contentTypeVersion="12" ma:contentTypeDescription="Create a new document." ma:contentTypeScope="" ma:versionID="1ea8e158fdb56c00ff9dbd260d4d852a">
  <xsd:schema xmlns:xsd="http://www.w3.org/2001/XMLSchema" xmlns:xs="http://www.w3.org/2001/XMLSchema" xmlns:p="http://schemas.microsoft.com/office/2006/metadata/properties" xmlns:ns2="e3f02ce4-f17e-46f8-88f7-72120ec08e56" xmlns:ns3="8e4e03e1-f8b1-44af-8a18-d6c17e30f4d4" targetNamespace="http://schemas.microsoft.com/office/2006/metadata/properties" ma:root="true" ma:fieldsID="dfc354b75f42f41b3089271a87c970f8" ns2:_="" ns3:_="">
    <xsd:import namespace="e3f02ce4-f17e-46f8-88f7-72120ec08e56"/>
    <xsd:import namespace="8e4e03e1-f8b1-44af-8a18-d6c17e30f4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f02ce4-f17e-46f8-88f7-72120ec08e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33c8c81-5745-4931-bcc4-c2aeafe8678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4e03e1-f8b1-44af-8a18-d6c17e30f4d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96ada02-4a5f-4bd4-97dc-1bfb86635cca}" ma:internalName="TaxCatchAll" ma:showField="CatchAllData" ma:web="8e4e03e1-f8b1-44af-8a18-d6c17e30f4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e4e03e1-f8b1-44af-8a18-d6c17e30f4d4" xsi:nil="true"/>
    <lcf76f155ced4ddcb4097134ff3c332f xmlns="e3f02ce4-f17e-46f8-88f7-72120ec08e5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D51143C-EEC2-4A86-906C-178DB9076997}"/>
</file>

<file path=customXml/itemProps2.xml><?xml version="1.0" encoding="utf-8"?>
<ds:datastoreItem xmlns:ds="http://schemas.openxmlformats.org/officeDocument/2006/customXml" ds:itemID="{4D08B201-5FE7-41AC-99CB-9BE4CD248FCF}"/>
</file>

<file path=customXml/itemProps3.xml><?xml version="1.0" encoding="utf-8"?>
<ds:datastoreItem xmlns:ds="http://schemas.openxmlformats.org/officeDocument/2006/customXml" ds:itemID="{36BACB44-9902-495A-8492-8ECFCB3F5082}"/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32</TotalTime>
  <Words>146</Words>
  <Application>Microsoft Office PowerPoint</Application>
  <PresentationFormat>Panorámica</PresentationFormat>
  <Paragraphs>41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Amasis MT Pro Black</vt:lpstr>
      <vt:lpstr>Franklin Gothic Book</vt:lpstr>
      <vt:lpstr>Recorte</vt:lpstr>
      <vt:lpstr>Modelo conceptual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 Fernando Carvajal Anacona</dc:creator>
  <cp:lastModifiedBy>Jesus Fernando Carvajal Anacona</cp:lastModifiedBy>
  <cp:revision>1</cp:revision>
  <dcterms:created xsi:type="dcterms:W3CDTF">2025-03-12T04:48:33Z</dcterms:created>
  <dcterms:modified xsi:type="dcterms:W3CDTF">2025-03-12T05:21:11Z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0x01010029D82C79E9C45A4F8892A5168669910F</vt:lpwstr>
  </property>
</Properties>
</file>